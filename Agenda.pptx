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387200"/>
            <a:ext cx="8520600" cy="45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" sz="2300">
                <a:solidFill>
                  <a:schemeClr val="dk1"/>
                </a:solidFill>
              </a:rPr>
              <a:t>The need to optimize ANN?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" sz="2300">
                <a:solidFill>
                  <a:schemeClr val="dk1"/>
                </a:solidFill>
              </a:rPr>
              <a:t>Gradient</a:t>
            </a:r>
            <a:r>
              <a:rPr b="1" lang="en" sz="2300">
                <a:solidFill>
                  <a:schemeClr val="dk1"/>
                </a:solidFill>
              </a:rPr>
              <a:t> Descent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" sz="2300">
                <a:solidFill>
                  <a:schemeClr val="dk1"/>
                </a:solidFill>
              </a:rPr>
              <a:t>Stochastic Gradient Descent (SGD)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" sz="2300">
                <a:solidFill>
                  <a:schemeClr val="dk1"/>
                </a:solidFill>
              </a:rPr>
              <a:t>SGD with Momentum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" sz="2300">
                <a:solidFill>
                  <a:schemeClr val="dk1"/>
                </a:solidFill>
              </a:rPr>
              <a:t>Mini-Batch Gradient Descent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" sz="2300">
                <a:solidFill>
                  <a:schemeClr val="dk1"/>
                </a:solidFill>
              </a:rPr>
              <a:t>Batch Normalization for Regularization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" sz="2300">
                <a:solidFill>
                  <a:schemeClr val="dk1"/>
                </a:solidFill>
              </a:rPr>
              <a:t>Weight Initialization Techniques (Xavier/Glorot and He)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" sz="2300">
                <a:solidFill>
                  <a:schemeClr val="dk1"/>
                </a:solidFill>
              </a:rPr>
              <a:t>Bonus topic: </a:t>
            </a:r>
            <a:r>
              <a:rPr b="1" lang="en" sz="2300">
                <a:solidFill>
                  <a:schemeClr val="dk1"/>
                </a:solidFill>
              </a:rPr>
              <a:t>Recursive</a:t>
            </a:r>
            <a:r>
              <a:rPr b="1" lang="en" sz="2300">
                <a:solidFill>
                  <a:schemeClr val="dk1"/>
                </a:solidFill>
              </a:rPr>
              <a:t> and LSTM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